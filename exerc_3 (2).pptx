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88" r:id="rId3"/>
    <p:sldId id="298" r:id="rId4"/>
    <p:sldId id="287" r:id="rId5"/>
    <p:sldId id="286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9" autoAdjust="0"/>
    <p:restoredTop sz="94660"/>
  </p:normalViewPr>
  <p:slideViewPr>
    <p:cSldViewPr>
      <p:cViewPr varScale="1">
        <p:scale>
          <a:sx n="80" d="100"/>
          <a:sy n="80" d="100"/>
        </p:scale>
        <p:origin x="1507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20382-AE58-425A-9432-33D0BE8EADA7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D448-F8A8-42C4-BD7C-1F73C256EF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205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DDD448-F8A8-42C4-BD7C-1F73C256EFEF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830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Prostokąt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Prostokąt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Prostokąt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Prostokąt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Prostokąt zaokrąglony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Prostokąt zaokrąglony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Prostokąt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stokąt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ostokąt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Prostokąt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ytuł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9" name="Podtytuł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/>
              <a:t>Kliknij, aby edytować styl wzorca podtytułu</a:t>
            </a:r>
            <a:endParaRPr kumimoji="0" lang="en-US"/>
          </a:p>
        </p:txBody>
      </p:sp>
      <p:sp>
        <p:nvSpPr>
          <p:cNvPr id="28" name="Symbol zastępczy daty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17" name="Symbol zastępczy stopki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29" name="Symbol zastępczy numeru slajdu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26" name="Symbol zastępczy daty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27" name="Symbol zastępczy numeru slajd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  <p:sp>
        <p:nvSpPr>
          <p:cNvPr id="28" name="Symbol zastępczy stopki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/>
              <a:t>Kliknij ikonę, aby dodać obraz</a:t>
            </a:r>
            <a:endParaRPr kumimoji="0" lang="en-US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l-PL"/>
              <a:t>Kliknij, aby edytować style wzorca tekstu</a:t>
            </a:r>
          </a:p>
          <a:p>
            <a:pPr lvl="1" eaLnBrk="1" latinLnBrk="0" hangingPunct="1"/>
            <a:r>
              <a:rPr lang="pl-PL"/>
              <a:t>Drugi poziom</a:t>
            </a:r>
          </a:p>
          <a:p>
            <a:pPr lvl="2" eaLnBrk="1" latinLnBrk="0" hangingPunct="1"/>
            <a:r>
              <a:rPr lang="pl-PL"/>
              <a:t>Trzeci poziom</a:t>
            </a:r>
          </a:p>
          <a:p>
            <a:pPr lvl="3" eaLnBrk="1" latinLnBrk="0" hangingPunct="1"/>
            <a:r>
              <a:rPr lang="pl-PL"/>
              <a:t>Czwarty poziom</a:t>
            </a:r>
          </a:p>
          <a:p>
            <a:pPr lvl="4" eaLnBrk="1" latinLnBrk="0" hangingPunct="1"/>
            <a:r>
              <a:rPr lang="pl-PL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ostokąt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Prostokąt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Prostokąt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Prostokąt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Prostokąt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Prostokąt zaokrąglony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Prostokąt zaokrąglony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Prostokąt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Prostokąt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Prostokąt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Prostokąt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Prostokąt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Prostokąt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Symbol zastępczy tytułu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l-PL"/>
              <a:t>Kliknij, aby edytować styl</a:t>
            </a:r>
            <a:endParaRPr kumimoji="0" lang="en-US"/>
          </a:p>
        </p:txBody>
      </p:sp>
      <p:sp>
        <p:nvSpPr>
          <p:cNvPr id="13" name="Symbol zastępczy tekstu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l-PL"/>
              <a:t>Kliknij, aby edytować style wzorca tekstu</a:t>
            </a:r>
          </a:p>
          <a:p>
            <a:pPr lvl="1" eaLnBrk="1" latinLnBrk="0" hangingPunct="1"/>
            <a:r>
              <a:rPr kumimoji="0" lang="pl-PL"/>
              <a:t>Drugi poziom</a:t>
            </a:r>
          </a:p>
          <a:p>
            <a:pPr lvl="2" eaLnBrk="1" latinLnBrk="0" hangingPunct="1"/>
            <a:r>
              <a:rPr kumimoji="0" lang="pl-PL"/>
              <a:t>Trzeci poziom</a:t>
            </a:r>
          </a:p>
          <a:p>
            <a:pPr lvl="3" eaLnBrk="1" latinLnBrk="0" hangingPunct="1"/>
            <a:r>
              <a:rPr kumimoji="0" lang="pl-PL"/>
              <a:t>Czwarty poziom</a:t>
            </a:r>
          </a:p>
          <a:p>
            <a:pPr lvl="4" eaLnBrk="1" latinLnBrk="0" hangingPunct="1"/>
            <a:r>
              <a:rPr kumimoji="0" lang="pl-PL"/>
              <a:t>Piąty poziom</a:t>
            </a:r>
            <a:endParaRPr kumimoji="0" lang="en-US"/>
          </a:p>
        </p:txBody>
      </p:sp>
      <p:sp>
        <p:nvSpPr>
          <p:cNvPr id="14" name="Symbol zastępczy daty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38E8B3F8-4512-4B98-82A3-953DF232C071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l-PL"/>
          </a:p>
        </p:txBody>
      </p:sp>
      <p:sp>
        <p:nvSpPr>
          <p:cNvPr id="23" name="Symbol zastępczy numeru slajdu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889B0E2E-855C-4AA1-8734-99D1FF48A829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-xoT2riUV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Warehouse</a:t>
            </a:r>
            <a:r>
              <a:rPr lang="pl-PL" dirty="0"/>
              <a:t> management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pl-PL" altLang="pl-PL" dirty="0"/>
              <a:t>Paulina Golinska-Dawson, </a:t>
            </a:r>
            <a:r>
              <a:rPr lang="pl-PL" altLang="pl-PL" dirty="0" err="1"/>
              <a:t>PhD</a:t>
            </a:r>
            <a:r>
              <a:rPr lang="pl-PL" altLang="pl-PL" dirty="0"/>
              <a:t> </a:t>
            </a:r>
            <a:r>
              <a:rPr lang="pl-PL" altLang="pl-PL" dirty="0" err="1"/>
              <a:t>eng</a:t>
            </a:r>
            <a:r>
              <a:rPr lang="pl-PL" altLang="pl-PL" dirty="0"/>
              <a:t>.</a:t>
            </a:r>
          </a:p>
          <a:p>
            <a:endParaRPr lang="pl-PL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619625"/>
            <a:ext cx="33559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44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Calculation</a:t>
            </a:r>
            <a:r>
              <a:rPr lang="pl-PL" dirty="0"/>
              <a:t> of the </a:t>
            </a:r>
            <a:r>
              <a:rPr lang="pl-PL" dirty="0" err="1"/>
              <a:t>storage</a:t>
            </a:r>
            <a:r>
              <a:rPr lang="pl-PL" dirty="0"/>
              <a:t> </a:t>
            </a:r>
            <a:r>
              <a:rPr lang="pl-PL" dirty="0" err="1"/>
              <a:t>modules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https://www.youtube.com/watch?v=w-xoT2riUV0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9341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F20E7B-D72C-48EE-ABB1-82EBBDC3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Standard europalet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7882EE-2F79-48D2-A400-EDEB8EA8A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507288" cy="432511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L</a:t>
            </a:r>
            <a:r>
              <a:rPr lang="en-US" b="1" dirty="0" err="1"/>
              <a:t>ength</a:t>
            </a:r>
            <a:r>
              <a:rPr lang="en-US" b="1" dirty="0"/>
              <a:t>:</a:t>
            </a:r>
            <a:r>
              <a:rPr lang="en-US" dirty="0"/>
              <a:t> 1,200 mm (1.2 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Width:</a:t>
            </a:r>
            <a:r>
              <a:rPr lang="en-US" dirty="0"/>
              <a:t> 800 mm (0.8 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Height:</a:t>
            </a:r>
            <a:r>
              <a:rPr lang="en-US" dirty="0"/>
              <a:t> 144 mm (0.144 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 weight:</a:t>
            </a:r>
            <a:r>
              <a:rPr lang="en-US" dirty="0"/>
              <a:t> approximately 25 kg</a:t>
            </a:r>
          </a:p>
          <a:p>
            <a:pPr marL="109728" indent="0">
              <a:buNone/>
            </a:pPr>
            <a:r>
              <a:rPr lang="en-US" b="1" dirty="0"/>
              <a:t>📦 Load capacity: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 load (when moved):</a:t>
            </a:r>
            <a:r>
              <a:rPr lang="en-US" dirty="0"/>
              <a:t> up to 1,500 kg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Static load (when stationary):</a:t>
            </a:r>
            <a:r>
              <a:rPr lang="en-US" dirty="0"/>
              <a:t> up to 4,000 kg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5236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pl-PL" dirty="0" err="1"/>
              <a:t>Warehouse</a:t>
            </a:r>
            <a:r>
              <a:rPr lang="pl-PL" altLang="pl-PL" dirty="0"/>
              <a:t> module (</a:t>
            </a:r>
            <a:r>
              <a:rPr lang="pl-PL" altLang="pl-PL" dirty="0" err="1"/>
              <a:t>cubic</a:t>
            </a:r>
            <a:r>
              <a:rPr lang="pl-PL" altLang="pl-PL" dirty="0"/>
              <a:t>)	</a:t>
            </a: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22" y="817091"/>
            <a:ext cx="4695825" cy="25431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4" name="pole tekstowe 3"/>
          <p:cNvSpPr txBox="1"/>
          <p:nvPr/>
        </p:nvSpPr>
        <p:spPr>
          <a:xfrm>
            <a:off x="4912433" y="764704"/>
            <a:ext cx="4032250" cy="13239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l-PL" sz="2000" dirty="0"/>
              <a:t>The </a:t>
            </a:r>
            <a:r>
              <a:rPr lang="pl-PL" sz="2000" dirty="0" err="1"/>
              <a:t>warehousing</a:t>
            </a:r>
            <a:r>
              <a:rPr lang="pl-PL" sz="2000" dirty="0"/>
              <a:t> module- </a:t>
            </a:r>
            <a:r>
              <a:rPr lang="en-US" sz="2000" dirty="0"/>
              <a:t>the pallet place is arranged with the longer side parallel to the transport </a:t>
            </a:r>
            <a:r>
              <a:rPr lang="pl-PL" sz="2000" dirty="0" err="1"/>
              <a:t>aisle</a:t>
            </a:r>
            <a:endParaRPr lang="pl-PL" sz="2000" dirty="0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76700"/>
            <a:ext cx="4695825" cy="272415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5" name="pole tekstowe 4"/>
          <p:cNvSpPr txBox="1"/>
          <p:nvPr/>
        </p:nvSpPr>
        <p:spPr>
          <a:xfrm>
            <a:off x="4932363" y="3861048"/>
            <a:ext cx="4032250" cy="13239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l-PL" sz="2000" dirty="0"/>
              <a:t>The </a:t>
            </a:r>
            <a:r>
              <a:rPr lang="pl-PL" sz="2000" dirty="0" err="1"/>
              <a:t>warehousing</a:t>
            </a:r>
            <a:r>
              <a:rPr lang="pl-PL" sz="2000" dirty="0"/>
              <a:t> module- </a:t>
            </a:r>
            <a:r>
              <a:rPr lang="en-US" sz="2000" dirty="0"/>
              <a:t>the pallet place is arranged with the </a:t>
            </a:r>
            <a:r>
              <a:rPr lang="pl-PL" sz="2000" dirty="0" err="1"/>
              <a:t>shorter</a:t>
            </a:r>
            <a:r>
              <a:rPr lang="en-US" sz="2000" dirty="0"/>
              <a:t> side parallel to the transport </a:t>
            </a:r>
            <a:r>
              <a:rPr lang="pl-PL" sz="2000" dirty="0" err="1"/>
              <a:t>aisle</a:t>
            </a:r>
            <a:endParaRPr lang="pl-PL" sz="2000" dirty="0"/>
          </a:p>
        </p:txBody>
      </p:sp>
      <p:sp>
        <p:nvSpPr>
          <p:cNvPr id="8499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tIns="0" rIns="45720"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800000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6600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CC3300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3399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l-PL" altLang="pl-PL" sz="2600"/>
          </a:p>
        </p:txBody>
      </p:sp>
      <p:graphicFrame>
        <p:nvGraphicFramePr>
          <p:cNvPr id="85000" name="Obiek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25035"/>
              </p:ext>
            </p:extLst>
          </p:nvPr>
        </p:nvGraphicFramePr>
        <p:xfrm>
          <a:off x="5201167" y="2102112"/>
          <a:ext cx="308133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Równanie" r:id="rId5" imgW="1536700" imgH="228600" progId="Equation.3">
                  <p:embed/>
                </p:oleObj>
              </mc:Choice>
              <mc:Fallback>
                <p:oleObj name="Równanie" r:id="rId5" imgW="1536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1167" y="2102112"/>
                        <a:ext cx="308133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tIns="0" rIns="45720"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800000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6600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CC3300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3399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l-PL" altLang="pl-PL" sz="2600"/>
          </a:p>
        </p:txBody>
      </p:sp>
      <p:graphicFrame>
        <p:nvGraphicFramePr>
          <p:cNvPr id="85002" name="Obiekt 8"/>
          <p:cNvGraphicFramePr>
            <a:graphicFrameLocks noChangeAspect="1"/>
          </p:cNvGraphicFramePr>
          <p:nvPr/>
        </p:nvGraphicFramePr>
        <p:xfrm>
          <a:off x="5148263" y="5321300"/>
          <a:ext cx="32400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Równanie" r:id="rId7" imgW="1536700" imgH="228600" progId="Equation.3">
                  <p:embed/>
                </p:oleObj>
              </mc:Choice>
              <mc:Fallback>
                <p:oleObj name="Równanie" r:id="rId7" imgW="1536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321300"/>
                        <a:ext cx="32400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ole tekstowe 9"/>
          <p:cNvSpPr txBox="1"/>
          <p:nvPr/>
        </p:nvSpPr>
        <p:spPr>
          <a:xfrm>
            <a:off x="4932363" y="2780928"/>
            <a:ext cx="4211637" cy="923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l-PL" sz="1800" dirty="0"/>
              <a:t>B– </a:t>
            </a:r>
            <a:r>
              <a:rPr lang="pl-PL" sz="1800" dirty="0" err="1"/>
              <a:t>lenght</a:t>
            </a:r>
            <a:r>
              <a:rPr lang="pl-PL" sz="1800" dirty="0"/>
              <a:t> </a:t>
            </a:r>
            <a:r>
              <a:rPr lang="pl-PL" sz="1800" dirty="0" err="1"/>
              <a:t>pallet</a:t>
            </a:r>
            <a:r>
              <a:rPr lang="pl-PL" sz="1800" dirty="0"/>
              <a:t> </a:t>
            </a:r>
            <a:r>
              <a:rPr lang="pl-PL" sz="1800" dirty="0" err="1"/>
              <a:t>space</a:t>
            </a:r>
            <a:endParaRPr lang="pl-PL" sz="1800" dirty="0"/>
          </a:p>
          <a:p>
            <a:pPr>
              <a:defRPr/>
            </a:pPr>
            <a:r>
              <a:rPr lang="pl-PL" sz="1800" dirty="0"/>
              <a:t>c – </a:t>
            </a:r>
            <a:r>
              <a:rPr lang="en-US" sz="1800" dirty="0"/>
              <a:t>width of the transport </a:t>
            </a:r>
            <a:r>
              <a:rPr lang="pl-PL" sz="1800" dirty="0" err="1"/>
              <a:t>aisle</a:t>
            </a:r>
            <a:endParaRPr lang="pl-PL" sz="1800" dirty="0"/>
          </a:p>
          <a:p>
            <a:pPr>
              <a:defRPr/>
            </a:pPr>
            <a:r>
              <a:rPr lang="pl-PL" sz="1800" dirty="0"/>
              <a:t>d – </a:t>
            </a:r>
            <a:r>
              <a:rPr lang="en-US" sz="1800" dirty="0"/>
              <a:t>width</a:t>
            </a:r>
            <a:r>
              <a:rPr lang="pl-PL" sz="1800" dirty="0"/>
              <a:t> palet </a:t>
            </a:r>
            <a:r>
              <a:rPr lang="pl-PL" sz="1800" dirty="0" err="1"/>
              <a:t>space</a:t>
            </a:r>
            <a:endParaRPr lang="pl-PL" sz="1800" dirty="0"/>
          </a:p>
        </p:txBody>
      </p:sp>
      <p:sp>
        <p:nvSpPr>
          <p:cNvPr id="11" name="pole tekstowe 10"/>
          <p:cNvSpPr txBox="1"/>
          <p:nvPr/>
        </p:nvSpPr>
        <p:spPr>
          <a:xfrm>
            <a:off x="4725711" y="5787119"/>
            <a:ext cx="4032250" cy="1200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l-PL" sz="1800" dirty="0"/>
              <a:t>B – </a:t>
            </a:r>
            <a:r>
              <a:rPr lang="en-US" sz="1800" dirty="0"/>
              <a:t>width</a:t>
            </a:r>
            <a:r>
              <a:rPr lang="pl-PL" sz="1800" dirty="0"/>
              <a:t> of </a:t>
            </a:r>
            <a:r>
              <a:rPr lang="pl-PL" sz="1800" dirty="0" err="1"/>
              <a:t>pallet</a:t>
            </a:r>
            <a:r>
              <a:rPr lang="pl-PL" sz="1800" dirty="0"/>
              <a:t> </a:t>
            </a:r>
            <a:r>
              <a:rPr lang="pl-PL" sz="1800" dirty="0" err="1"/>
              <a:t>space</a:t>
            </a:r>
            <a:endParaRPr lang="pl-PL" sz="1800" dirty="0"/>
          </a:p>
          <a:p>
            <a:pPr>
              <a:defRPr/>
            </a:pPr>
            <a:r>
              <a:rPr lang="pl-PL" sz="1800" dirty="0"/>
              <a:t>c – </a:t>
            </a:r>
            <a:r>
              <a:rPr lang="en-US" sz="1800" dirty="0"/>
              <a:t>width of the transport </a:t>
            </a:r>
            <a:r>
              <a:rPr lang="pl-PL" sz="1800" dirty="0" err="1"/>
              <a:t>aisle</a:t>
            </a:r>
            <a:endParaRPr lang="pl-PL" sz="1800" dirty="0"/>
          </a:p>
          <a:p>
            <a:pPr>
              <a:defRPr/>
            </a:pPr>
            <a:r>
              <a:rPr lang="pl-PL" sz="1800" dirty="0"/>
              <a:t>e – </a:t>
            </a:r>
            <a:r>
              <a:rPr lang="pl-PL" sz="1800" dirty="0" err="1"/>
              <a:t>lenght</a:t>
            </a:r>
            <a:r>
              <a:rPr lang="pl-PL" sz="1800" dirty="0"/>
              <a:t> of </a:t>
            </a:r>
            <a:r>
              <a:rPr lang="pl-PL" sz="1800" dirty="0" err="1"/>
              <a:t>pallet</a:t>
            </a:r>
            <a:r>
              <a:rPr lang="pl-PL" sz="1800" dirty="0"/>
              <a:t> </a:t>
            </a:r>
            <a:r>
              <a:rPr lang="pl-PL" sz="1800" dirty="0" err="1"/>
              <a:t>space</a:t>
            </a:r>
            <a:endParaRPr lang="pl-PL" sz="1800" dirty="0"/>
          </a:p>
          <a:p>
            <a:pPr>
              <a:defRPr/>
            </a:pP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337292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ytuł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568952" cy="1066800"/>
          </a:xfrm>
        </p:spPr>
        <p:txBody>
          <a:bodyPr>
            <a:normAutofit fontScale="90000"/>
          </a:bodyPr>
          <a:lstStyle/>
          <a:p>
            <a:r>
              <a:rPr lang="en-US" altLang="pl-PL" dirty="0"/>
              <a:t>Calculation of the width of transportation aisle</a:t>
            </a:r>
          </a:p>
        </p:txBody>
      </p:sp>
      <p:sp>
        <p:nvSpPr>
          <p:cNvPr id="20483" name="Symbol zastępczy zawartości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325112"/>
          </a:xfrm>
        </p:spPr>
        <p:txBody>
          <a:bodyPr/>
          <a:lstStyle/>
          <a:p>
            <a:endParaRPr lang="pl-PL" altLang="pl-PL" dirty="0"/>
          </a:p>
          <a:p>
            <a:pPr marL="109728" indent="0">
              <a:buNone/>
            </a:pPr>
            <a:r>
              <a:rPr lang="pl-PL" altLang="pl-PL" dirty="0"/>
              <a:t>a- </a:t>
            </a:r>
            <a:r>
              <a:rPr lang="pl-PL" altLang="pl-PL" dirty="0" err="1"/>
              <a:t>width</a:t>
            </a:r>
            <a:r>
              <a:rPr lang="pl-PL" altLang="pl-PL" dirty="0"/>
              <a:t> of a </a:t>
            </a:r>
            <a:r>
              <a:rPr lang="pl-PL" altLang="pl-PL" dirty="0" err="1"/>
              <a:t>mean</a:t>
            </a:r>
            <a:r>
              <a:rPr lang="pl-PL" altLang="pl-PL" dirty="0"/>
              <a:t> of </a:t>
            </a:r>
            <a:r>
              <a:rPr lang="pl-PL" altLang="pl-PL" dirty="0" err="1"/>
              <a:t>transportation</a:t>
            </a:r>
            <a:r>
              <a:rPr lang="pl-PL" altLang="pl-PL" dirty="0"/>
              <a:t> </a:t>
            </a:r>
            <a:endParaRPr lang="en-US" altLang="pl-PL" dirty="0"/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190845"/>
              </p:ext>
            </p:extLst>
          </p:nvPr>
        </p:nvGraphicFramePr>
        <p:xfrm>
          <a:off x="323528" y="2151836"/>
          <a:ext cx="8640960" cy="435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kument" r:id="rId3" imgW="5831044" imgH="2977982" progId="Word.Document.12">
                  <p:embed/>
                </p:oleObj>
              </mc:Choice>
              <mc:Fallback>
                <p:oleObj name="Dokument" r:id="rId3" imgW="5831044" imgH="2977982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151836"/>
                        <a:ext cx="8640960" cy="435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ole tekstowe 1">
            <a:extLst>
              <a:ext uri="{FF2B5EF4-FFF2-40B4-BE49-F238E27FC236}">
                <a16:creationId xmlns:a16="http://schemas.microsoft.com/office/drawing/2014/main" id="{20B38CB6-C865-B8AB-493F-6E7C9A88A78F}"/>
              </a:ext>
            </a:extLst>
          </p:cNvPr>
          <p:cNvSpPr txBox="1"/>
          <p:nvPr/>
        </p:nvSpPr>
        <p:spPr>
          <a:xfrm>
            <a:off x="4445986" y="2780928"/>
            <a:ext cx="4140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4A4DA41-F639-BBC1-2FCE-3F3042054A4F}"/>
              </a:ext>
            </a:extLst>
          </p:cNvPr>
          <p:cNvSpPr txBox="1"/>
          <p:nvPr/>
        </p:nvSpPr>
        <p:spPr>
          <a:xfrm>
            <a:off x="4303313" y="4947735"/>
            <a:ext cx="4140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E2B40C0-0F6F-9689-CDDD-628C40BB5386}"/>
              </a:ext>
            </a:extLst>
          </p:cNvPr>
          <p:cNvSpPr txBox="1"/>
          <p:nvPr/>
        </p:nvSpPr>
        <p:spPr>
          <a:xfrm>
            <a:off x="4400981" y="4303418"/>
            <a:ext cx="4140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DF5A9A3-6B71-6AEA-A7D5-665C0B97E704}"/>
              </a:ext>
            </a:extLst>
          </p:cNvPr>
          <p:cNvSpPr txBox="1"/>
          <p:nvPr/>
        </p:nvSpPr>
        <p:spPr>
          <a:xfrm>
            <a:off x="4467563" y="3454304"/>
            <a:ext cx="4140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CFC8DCA-1B29-1D97-D186-4A88DA5FDC04}"/>
              </a:ext>
            </a:extLst>
          </p:cNvPr>
          <p:cNvSpPr txBox="1"/>
          <p:nvPr/>
        </p:nvSpPr>
        <p:spPr>
          <a:xfrm>
            <a:off x="6948264" y="4869160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C5F7BA5-FCDA-CE8A-5C0C-FF49AADFC2AA}"/>
              </a:ext>
            </a:extLst>
          </p:cNvPr>
          <p:cNvSpPr txBox="1"/>
          <p:nvPr/>
        </p:nvSpPr>
        <p:spPr>
          <a:xfrm>
            <a:off x="6842972" y="4285643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EE46474-D925-F86C-24BD-158851E67DA7}"/>
              </a:ext>
            </a:extLst>
          </p:cNvPr>
          <p:cNvSpPr txBox="1"/>
          <p:nvPr/>
        </p:nvSpPr>
        <p:spPr>
          <a:xfrm>
            <a:off x="6842972" y="3371840"/>
            <a:ext cx="4970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0AA9DE8-0A2D-5267-7454-A73B95925D7D}"/>
              </a:ext>
            </a:extLst>
          </p:cNvPr>
          <p:cNvSpPr txBox="1"/>
          <p:nvPr/>
        </p:nvSpPr>
        <p:spPr>
          <a:xfrm>
            <a:off x="6933710" y="2788323"/>
            <a:ext cx="4970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2144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332656"/>
            <a:ext cx="7499350" cy="9286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Example</a:t>
            </a:r>
          </a:p>
        </p:txBody>
      </p:sp>
      <p:sp>
        <p:nvSpPr>
          <p:cNvPr id="24579" name="Symbol zastępczy zawartości 2"/>
          <p:cNvSpPr>
            <a:spLocks noGrp="1"/>
          </p:cNvSpPr>
          <p:nvPr>
            <p:ph idx="1"/>
          </p:nvPr>
        </p:nvSpPr>
        <p:spPr>
          <a:xfrm>
            <a:off x="0" y="1124743"/>
            <a:ext cx="8964488" cy="5733257"/>
          </a:xfrm>
        </p:spPr>
        <p:txBody>
          <a:bodyPr/>
          <a:lstStyle/>
          <a:p>
            <a:r>
              <a:rPr lang="en-US" altLang="pl-PL" sz="2400" dirty="0"/>
              <a:t>Width of the transportation aisle: 1200 mm (manual operations)</a:t>
            </a:r>
          </a:p>
          <a:p>
            <a:r>
              <a:rPr lang="en-US" altLang="pl-PL" sz="2400" dirty="0"/>
              <a:t> Width of the transportation aisle: 2400-3300 mm (forklift truck)</a:t>
            </a:r>
          </a:p>
          <a:p>
            <a:endParaRPr lang="pl-PL" altLang="pl-PL" sz="2400" dirty="0"/>
          </a:p>
        </p:txBody>
      </p:sp>
      <p:sp>
        <p:nvSpPr>
          <p:cNvPr id="4" name="Prostokąt 3"/>
          <p:cNvSpPr/>
          <p:nvPr/>
        </p:nvSpPr>
        <p:spPr>
          <a:xfrm>
            <a:off x="2372797" y="2500313"/>
            <a:ext cx="1469469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Prostokąt 4"/>
          <p:cNvSpPr/>
          <p:nvPr/>
        </p:nvSpPr>
        <p:spPr>
          <a:xfrm>
            <a:off x="3714750" y="2500313"/>
            <a:ext cx="1643063" cy="2000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Prostokąt 7"/>
          <p:cNvSpPr/>
          <p:nvPr/>
        </p:nvSpPr>
        <p:spPr>
          <a:xfrm>
            <a:off x="5357813" y="2500313"/>
            <a:ext cx="1285875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Łącznik prosty ze strzałką 9"/>
          <p:cNvCxnSpPr/>
          <p:nvPr/>
        </p:nvCxnSpPr>
        <p:spPr>
          <a:xfrm rot="5400000">
            <a:off x="6036469" y="3536156"/>
            <a:ext cx="25019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 rot="5400000">
            <a:off x="536576" y="3749675"/>
            <a:ext cx="2500312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/>
          <p:cNvSpPr txBox="1"/>
          <p:nvPr/>
        </p:nvSpPr>
        <p:spPr>
          <a:xfrm>
            <a:off x="7429520" y="2357430"/>
            <a:ext cx="461665" cy="2357454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pl-PL" dirty="0"/>
              <a:t>1200mm+10 0mm </a:t>
            </a:r>
            <a:endParaRPr lang="en-US" dirty="0"/>
          </a:p>
        </p:txBody>
      </p:sp>
      <p:cxnSp>
        <p:nvCxnSpPr>
          <p:cNvPr id="16" name="Łącznik prosty ze strzałką 15"/>
          <p:cNvCxnSpPr/>
          <p:nvPr/>
        </p:nvCxnSpPr>
        <p:spPr>
          <a:xfrm>
            <a:off x="2143125" y="5072063"/>
            <a:ext cx="4786313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7" name="pole tekstowe 16"/>
          <p:cNvSpPr txBox="1">
            <a:spLocks noChangeArrowheads="1"/>
          </p:cNvSpPr>
          <p:nvPr/>
        </p:nvSpPr>
        <p:spPr bwMode="auto">
          <a:xfrm>
            <a:off x="467544" y="5496131"/>
            <a:ext cx="793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l-PL" altLang="pl-PL" dirty="0"/>
              <a:t>2x(</a:t>
            </a:r>
            <a:r>
              <a:rPr lang="en-US" altLang="pl-PL" dirty="0"/>
              <a:t>Width of pallet  800mm+ 100 mm /pallet</a:t>
            </a:r>
            <a:r>
              <a:rPr lang="pl-PL" altLang="pl-PL" dirty="0"/>
              <a:t>)</a:t>
            </a:r>
            <a:r>
              <a:rPr lang="en-US" altLang="pl-PL" dirty="0"/>
              <a:t> + Width of transportation aisle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2555776" y="299695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 err="1"/>
              <a:t>Pallet</a:t>
            </a:r>
            <a:endParaRPr lang="pl-PL" sz="2000" dirty="0"/>
          </a:p>
        </p:txBody>
      </p:sp>
      <p:sp>
        <p:nvSpPr>
          <p:cNvPr id="15" name="pole tekstowe 14"/>
          <p:cNvSpPr txBox="1"/>
          <p:nvPr/>
        </p:nvSpPr>
        <p:spPr>
          <a:xfrm>
            <a:off x="5413319" y="313110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 err="1"/>
              <a:t>Pallet</a:t>
            </a:r>
            <a:endParaRPr lang="pl-PL" sz="2000" dirty="0"/>
          </a:p>
        </p:txBody>
      </p:sp>
      <p:sp>
        <p:nvSpPr>
          <p:cNvPr id="6" name="pole tekstowe 5"/>
          <p:cNvSpPr txBox="1"/>
          <p:nvPr/>
        </p:nvSpPr>
        <p:spPr>
          <a:xfrm>
            <a:off x="3995936" y="3131106"/>
            <a:ext cx="1152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 err="1">
                <a:solidFill>
                  <a:schemeClr val="bg1"/>
                </a:solidFill>
              </a:rPr>
              <a:t>Aisle</a:t>
            </a:r>
            <a:r>
              <a:rPr lang="pl-PL" sz="2000" dirty="0">
                <a:solidFill>
                  <a:schemeClr val="bg1"/>
                </a:solidFill>
              </a:rPr>
              <a:t>/</a:t>
            </a:r>
          </a:p>
          <a:p>
            <a:r>
              <a:rPr lang="pl-PL" sz="2000" dirty="0" err="1">
                <a:solidFill>
                  <a:schemeClr val="bg1"/>
                </a:solidFill>
              </a:rPr>
              <a:t>Internal</a:t>
            </a:r>
            <a:r>
              <a:rPr lang="pl-PL" sz="2000" dirty="0">
                <a:solidFill>
                  <a:schemeClr val="bg1"/>
                </a:solidFill>
              </a:rPr>
              <a:t> </a:t>
            </a:r>
            <a:r>
              <a:rPr lang="pl-PL" sz="2000" dirty="0" err="1">
                <a:solidFill>
                  <a:schemeClr val="bg1"/>
                </a:solidFill>
              </a:rPr>
              <a:t>road</a:t>
            </a:r>
            <a:endParaRPr lang="pl-PL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00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435100" y="0"/>
            <a:ext cx="7499350" cy="928688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pl-PL" dirty="0"/>
            </a:b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2988" y="1196975"/>
            <a:ext cx="7499350" cy="51054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pl-PL" sz="2400" dirty="0"/>
              <a:t>The </a:t>
            </a:r>
            <a:r>
              <a:rPr lang="pl-PL" sz="2400" dirty="0" err="1"/>
              <a:t>surface</a:t>
            </a:r>
            <a:r>
              <a:rPr lang="pl-PL" sz="2400" dirty="0"/>
              <a:t> of the module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M= (2d+c)* L</a:t>
            </a:r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C – 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transportation</a:t>
            </a:r>
            <a:r>
              <a:rPr lang="pl-PL" sz="2400" dirty="0"/>
              <a:t> </a:t>
            </a:r>
            <a:r>
              <a:rPr lang="pl-PL" sz="2400" dirty="0" err="1"/>
              <a:t>aisle</a:t>
            </a:r>
            <a:r>
              <a:rPr lang="pl-PL" sz="2400" dirty="0"/>
              <a:t> </a:t>
            </a:r>
          </a:p>
          <a:p>
            <a:pPr>
              <a:defRPr/>
            </a:pPr>
            <a:r>
              <a:rPr lang="pl-PL" sz="2400" dirty="0"/>
              <a:t>d – 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pallet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r>
              <a:rPr lang="pl-PL" sz="2400" dirty="0"/>
              <a:t> </a:t>
            </a:r>
          </a:p>
          <a:p>
            <a:pPr>
              <a:defRPr/>
            </a:pPr>
            <a:r>
              <a:rPr lang="pl-PL" sz="2400" dirty="0"/>
              <a:t>L – </a:t>
            </a:r>
            <a:r>
              <a:rPr lang="pl-PL" sz="2400" dirty="0" err="1"/>
              <a:t>lenght</a:t>
            </a:r>
            <a:r>
              <a:rPr lang="pl-PL" sz="2400" dirty="0"/>
              <a:t> of the </a:t>
            </a:r>
            <a:r>
              <a:rPr lang="pl-PL" sz="2400" dirty="0" err="1"/>
              <a:t>pallet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endParaRPr lang="pl-PL" sz="2400" dirty="0"/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Surface of the  </a:t>
            </a:r>
            <a:r>
              <a:rPr lang="pl-PL" sz="2400" dirty="0" err="1"/>
              <a:t>storage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r>
              <a:rPr lang="pl-PL" sz="2400" dirty="0"/>
              <a:t> 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P= M* (</a:t>
            </a:r>
            <a:r>
              <a:rPr lang="pl-PL" sz="2400" dirty="0" err="1"/>
              <a:t>Zmax</a:t>
            </a:r>
            <a:r>
              <a:rPr lang="pl-PL" sz="2400" dirty="0"/>
              <a:t>/2*w)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 err="1"/>
              <a:t>Where</a:t>
            </a:r>
            <a:r>
              <a:rPr lang="pl-PL" sz="2400" dirty="0"/>
              <a:t>: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 err="1"/>
              <a:t>Zmax</a:t>
            </a:r>
            <a:r>
              <a:rPr lang="pl-PL" sz="2400" dirty="0"/>
              <a:t>- </a:t>
            </a:r>
            <a:r>
              <a:rPr lang="en-US" sz="2400" dirty="0"/>
              <a:t>maximum storage capacity (for homogeneous loading units</a:t>
            </a:r>
            <a:r>
              <a:rPr lang="pl-PL" sz="2400" dirty="0"/>
              <a:t>)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w</a:t>
            </a:r>
            <a:r>
              <a:rPr lang="pl-PL" sz="2400" baseline="-25000" dirty="0"/>
              <a:t> </a:t>
            </a:r>
            <a:r>
              <a:rPr lang="pl-PL" sz="2400" dirty="0"/>
              <a:t>– </a:t>
            </a:r>
            <a:r>
              <a:rPr lang="en-US" sz="2400" dirty="0"/>
              <a:t>number of </a:t>
            </a:r>
            <a:r>
              <a:rPr lang="pl-PL" sz="2400" dirty="0"/>
              <a:t> </a:t>
            </a:r>
            <a:r>
              <a:rPr lang="pl-PL" sz="2400" dirty="0" err="1"/>
              <a:t>stacking</a:t>
            </a:r>
            <a:r>
              <a:rPr lang="pl-PL" sz="2400" dirty="0"/>
              <a:t> </a:t>
            </a:r>
            <a:r>
              <a:rPr lang="en-US" sz="2400" dirty="0"/>
              <a:t>layers (for </a:t>
            </a:r>
            <a:r>
              <a:rPr lang="pl-PL" sz="2400" dirty="0" err="1"/>
              <a:t>raking</a:t>
            </a:r>
            <a:r>
              <a:rPr lang="pl-PL" sz="2400" dirty="0"/>
              <a:t> system</a:t>
            </a:r>
            <a:r>
              <a:rPr lang="en-US" sz="2400" dirty="0"/>
              <a:t> it is the number of rack levels)</a:t>
            </a:r>
            <a:endParaRPr lang="pl-PL" sz="2400" dirty="0"/>
          </a:p>
          <a:p>
            <a:pPr>
              <a:defRPr/>
            </a:pPr>
            <a:endParaRPr lang="pl-PL" sz="2400" dirty="0"/>
          </a:p>
          <a:p>
            <a:pPr>
              <a:defRPr/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28390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1066800"/>
          </a:xfrm>
        </p:spPr>
        <p:txBody>
          <a:bodyPr/>
          <a:lstStyle/>
          <a:p>
            <a:pPr>
              <a:defRPr/>
            </a:pPr>
            <a:r>
              <a:rPr lang="pl-PL" dirty="0" err="1"/>
              <a:t>Example</a:t>
            </a:r>
            <a:r>
              <a:rPr lang="pl-PL" dirty="0"/>
              <a:t> 2</a:t>
            </a:r>
          </a:p>
        </p:txBody>
      </p:sp>
      <p:sp>
        <p:nvSpPr>
          <p:cNvPr id="26627" name="Symbol zastępczy zawartości 2"/>
          <p:cNvSpPr>
            <a:spLocks noGrp="1"/>
          </p:cNvSpPr>
          <p:nvPr>
            <p:ph idx="1"/>
          </p:nvPr>
        </p:nvSpPr>
        <p:spPr>
          <a:xfrm>
            <a:off x="1316038" y="1524000"/>
            <a:ext cx="7499350" cy="4800600"/>
          </a:xfrm>
        </p:spPr>
        <p:txBody>
          <a:bodyPr/>
          <a:lstStyle/>
          <a:p>
            <a:r>
              <a:rPr lang="en-US" altLang="pl-PL" sz="2400" dirty="0"/>
              <a:t>Calculate the </a:t>
            </a:r>
            <a:r>
              <a:rPr lang="pl-PL" altLang="pl-PL" sz="2400" dirty="0" err="1"/>
              <a:t>surface</a:t>
            </a:r>
            <a:r>
              <a:rPr lang="en-US" altLang="pl-PL" sz="2400" dirty="0"/>
              <a:t> of 2 storage modules for row storage. Storage is carried out on industrial pallets</a:t>
            </a:r>
            <a:r>
              <a:rPr lang="pl-PL" altLang="pl-PL" sz="2400" dirty="0"/>
              <a:t> (1000 mm x1200 mm)</a:t>
            </a:r>
            <a:r>
              <a:rPr lang="en-US" altLang="pl-PL" sz="2400" dirty="0"/>
              <a:t>, and the width of the transport route is 3.5 m. Pallets are arranged perpendicular to the transport routes</a:t>
            </a:r>
            <a:endParaRPr lang="pl-PL" altLang="pl-PL" sz="2400" dirty="0"/>
          </a:p>
        </p:txBody>
      </p:sp>
      <p:sp>
        <p:nvSpPr>
          <p:cNvPr id="4" name="Prostokąt 3"/>
          <p:cNvSpPr/>
          <p:nvPr/>
        </p:nvSpPr>
        <p:spPr>
          <a:xfrm rot="16200000">
            <a:off x="2501106" y="4836319"/>
            <a:ext cx="1214438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Prostokąt 4"/>
          <p:cNvSpPr/>
          <p:nvPr/>
        </p:nvSpPr>
        <p:spPr>
          <a:xfrm rot="16200000">
            <a:off x="2501106" y="3618707"/>
            <a:ext cx="1214437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Prostokąt 5"/>
          <p:cNvSpPr/>
          <p:nvPr/>
        </p:nvSpPr>
        <p:spPr>
          <a:xfrm rot="16200000">
            <a:off x="6049169" y="4818857"/>
            <a:ext cx="1214437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Prostokąt 6"/>
          <p:cNvSpPr/>
          <p:nvPr/>
        </p:nvSpPr>
        <p:spPr>
          <a:xfrm rot="16200000">
            <a:off x="6096794" y="3686969"/>
            <a:ext cx="1214438" cy="1905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Prostokąt 7"/>
          <p:cNvSpPr/>
          <p:nvPr/>
        </p:nvSpPr>
        <p:spPr>
          <a:xfrm>
            <a:off x="4108450" y="4011613"/>
            <a:ext cx="1643063" cy="243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Łącznik prosty ze strzałką 8"/>
          <p:cNvCxnSpPr/>
          <p:nvPr/>
        </p:nvCxnSpPr>
        <p:spPr>
          <a:xfrm rot="5400000">
            <a:off x="6777832" y="5174456"/>
            <a:ext cx="25019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/>
          <p:cNvCxnSpPr/>
          <p:nvPr/>
        </p:nvCxnSpPr>
        <p:spPr>
          <a:xfrm>
            <a:off x="2106613" y="3924300"/>
            <a:ext cx="55499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5" name="Prostokąt 12"/>
          <p:cNvSpPr>
            <a:spLocks noChangeArrowheads="1"/>
          </p:cNvSpPr>
          <p:nvPr/>
        </p:nvSpPr>
        <p:spPr bwMode="auto">
          <a:xfrm>
            <a:off x="4138613" y="3435350"/>
            <a:ext cx="251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l-PL" altLang="pl-PL" dirty="0" err="1"/>
              <a:t>Dimension</a:t>
            </a:r>
            <a:r>
              <a:rPr lang="pl-PL" altLang="pl-PL" dirty="0"/>
              <a:t> 1</a:t>
            </a:r>
            <a:r>
              <a:rPr lang="pl-PL" altLang="pl-PL" baseline="-25000" dirty="0"/>
              <a:t> </a:t>
            </a:r>
            <a:r>
              <a:rPr lang="pl-PL" altLang="pl-PL" dirty="0"/>
              <a:t> </a:t>
            </a:r>
          </a:p>
        </p:txBody>
      </p:sp>
      <p:sp>
        <p:nvSpPr>
          <p:cNvPr id="26636" name="Prostokąt 13"/>
          <p:cNvSpPr>
            <a:spLocks noChangeArrowheads="1"/>
          </p:cNvSpPr>
          <p:nvPr/>
        </p:nvSpPr>
        <p:spPr bwMode="auto">
          <a:xfrm>
            <a:off x="8018463" y="4841875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l-PL" altLang="pl-PL" dirty="0" err="1"/>
              <a:t>Dimesion</a:t>
            </a:r>
            <a:r>
              <a:rPr lang="pl-PL" altLang="pl-PL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161142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066800"/>
          </a:xfrm>
        </p:spPr>
        <p:txBody>
          <a:bodyPr/>
          <a:lstStyle/>
          <a:p>
            <a:pPr>
              <a:defRPr/>
            </a:pPr>
            <a:r>
              <a:rPr lang="pl-PL" dirty="0"/>
              <a:t>Solution</a:t>
            </a:r>
          </a:p>
        </p:txBody>
      </p:sp>
      <p:sp>
        <p:nvSpPr>
          <p:cNvPr id="27651" name="Symbol zastępczy zawartości 2"/>
          <p:cNvSpPr>
            <a:spLocks noGrp="1"/>
          </p:cNvSpPr>
          <p:nvPr>
            <p:ph idx="1"/>
          </p:nvPr>
        </p:nvSpPr>
        <p:spPr>
          <a:xfrm>
            <a:off x="900113" y="1447800"/>
            <a:ext cx="8034337" cy="4800600"/>
          </a:xfrm>
        </p:spPr>
        <p:txBody>
          <a:bodyPr/>
          <a:lstStyle/>
          <a:p>
            <a:endParaRPr lang="pl-PL" altLang="pl-PL" dirty="0"/>
          </a:p>
          <a:p>
            <a:endParaRPr lang="pl-PL" altLang="pl-PL" dirty="0"/>
          </a:p>
          <a:p>
            <a:r>
              <a:rPr lang="pl-PL" altLang="pl-PL" dirty="0"/>
              <a:t>M= ((2x (1,2+0,1m)+3,5m)) x 2x(1m +0,1 m) = 13,42 m2 </a:t>
            </a:r>
          </a:p>
        </p:txBody>
      </p:sp>
      <p:sp>
        <p:nvSpPr>
          <p:cNvPr id="27652" name="Prostokąt 3"/>
          <p:cNvSpPr>
            <a:spLocks noChangeArrowheads="1"/>
          </p:cNvSpPr>
          <p:nvPr/>
        </p:nvSpPr>
        <p:spPr bwMode="auto">
          <a:xfrm>
            <a:off x="1692275" y="1700213"/>
            <a:ext cx="2303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 2" pitchFamily="18" charset="2"/>
              <a:buNone/>
            </a:pPr>
            <a:r>
              <a:rPr lang="pl-PL" altLang="pl-PL" sz="2400" dirty="0"/>
              <a:t>M= (2d+c)* L</a:t>
            </a:r>
          </a:p>
        </p:txBody>
      </p:sp>
    </p:spTree>
    <p:extLst>
      <p:ext uri="{BB962C8B-B14F-4D97-AF65-F5344CB8AC3E}">
        <p14:creationId xmlns:p14="http://schemas.microsoft.com/office/powerpoint/2010/main" val="375436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dirty="0" err="1"/>
              <a:t>Example</a:t>
            </a:r>
            <a:r>
              <a:rPr lang="pl-PL" dirty="0"/>
              <a:t> </a:t>
            </a:r>
          </a:p>
        </p:txBody>
      </p:sp>
      <p:sp>
        <p:nvSpPr>
          <p:cNvPr id="28675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pl-PL" altLang="pl-PL" dirty="0"/>
              <a:t> </a:t>
            </a:r>
          </a:p>
          <a:p>
            <a:r>
              <a:rPr lang="en-US" altLang="pl-PL" dirty="0"/>
              <a:t>Calculate the </a:t>
            </a:r>
            <a:r>
              <a:rPr lang="pl-PL" altLang="pl-PL" dirty="0" err="1"/>
              <a:t>surface</a:t>
            </a:r>
            <a:r>
              <a:rPr lang="pl-PL" altLang="pl-PL" dirty="0"/>
              <a:t> </a:t>
            </a:r>
            <a:r>
              <a:rPr lang="en-US" altLang="pl-PL" dirty="0"/>
              <a:t>of modules shown in the previous </a:t>
            </a:r>
            <a:r>
              <a:rPr lang="pl-PL" altLang="pl-PL" dirty="0"/>
              <a:t>F</a:t>
            </a:r>
            <a:r>
              <a:rPr lang="en-US" altLang="pl-PL" dirty="0" err="1"/>
              <a:t>igure</a:t>
            </a:r>
            <a:r>
              <a:rPr lang="en-US" altLang="pl-PL" dirty="0"/>
              <a:t> if storage is on Euro pallets and the width of the transport route is 2.5 m.</a:t>
            </a:r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95739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99350" cy="928688"/>
          </a:xfrm>
        </p:spPr>
        <p:txBody>
          <a:bodyPr/>
          <a:lstStyle/>
          <a:p>
            <a:pPr>
              <a:defRPr/>
            </a:pPr>
            <a:r>
              <a:rPr lang="pl-PL" dirty="0"/>
              <a:t>Solution</a:t>
            </a: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67544" y="1412776"/>
            <a:ext cx="8466906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l-PL" sz="2400" dirty="0"/>
              <a:t>Surface of module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M= (2f+c)* L</a:t>
            </a:r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C - 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transportation</a:t>
            </a:r>
            <a:r>
              <a:rPr lang="pl-PL" sz="2400" dirty="0"/>
              <a:t> </a:t>
            </a:r>
            <a:r>
              <a:rPr lang="pl-PL" sz="2400" dirty="0" err="1"/>
              <a:t>aisle</a:t>
            </a:r>
            <a:endParaRPr lang="pl-PL" sz="2400" dirty="0"/>
          </a:p>
          <a:p>
            <a:pPr>
              <a:defRPr/>
            </a:pPr>
            <a:r>
              <a:rPr lang="pl-PL" sz="2400" dirty="0"/>
              <a:t>f – </a:t>
            </a:r>
            <a:r>
              <a:rPr lang="pl-PL" sz="2400" dirty="0" err="1"/>
              <a:t>n</a:t>
            </a:r>
            <a:r>
              <a:rPr lang="pl-PL" sz="2400" baseline="-25000" dirty="0" err="1"/>
              <a:t>rzi</a:t>
            </a:r>
            <a:r>
              <a:rPr lang="pl-PL" sz="2400" dirty="0"/>
              <a:t> *S</a:t>
            </a:r>
            <a:r>
              <a:rPr lang="pl-PL" sz="2400" baseline="-25000" dirty="0"/>
              <a:t>g </a:t>
            </a:r>
            <a:r>
              <a:rPr lang="pl-PL" sz="2400" dirty="0"/>
              <a:t>(</a:t>
            </a:r>
            <a:r>
              <a:rPr lang="pl-PL" sz="2400" dirty="0" err="1"/>
              <a:t>widgh</a:t>
            </a:r>
            <a:r>
              <a:rPr lang="pl-PL" sz="2400" dirty="0"/>
              <a:t> of </a:t>
            </a:r>
            <a:r>
              <a:rPr lang="pl-PL" sz="2400" dirty="0" err="1"/>
              <a:t>paller</a:t>
            </a:r>
            <a:r>
              <a:rPr lang="pl-PL" sz="2400" dirty="0"/>
              <a:t>); </a:t>
            </a:r>
            <a:r>
              <a:rPr lang="pl-PL" sz="2400" dirty="0" err="1"/>
              <a:t>n</a:t>
            </a:r>
            <a:r>
              <a:rPr lang="pl-PL" sz="2400" baseline="-25000" dirty="0" err="1"/>
              <a:t>rzi</a:t>
            </a:r>
            <a:r>
              <a:rPr lang="pl-PL" sz="2400" dirty="0"/>
              <a:t> – </a:t>
            </a:r>
            <a:r>
              <a:rPr lang="en-US" sz="2400" dirty="0"/>
              <a:t>number of loading units in the row (horizontal)</a:t>
            </a:r>
            <a:endParaRPr lang="pl-PL" sz="2400" dirty="0"/>
          </a:p>
          <a:p>
            <a:pPr>
              <a:defRPr/>
            </a:pPr>
            <a:r>
              <a:rPr lang="pl-PL" sz="2400" dirty="0"/>
              <a:t>L – </a:t>
            </a:r>
            <a:r>
              <a:rPr lang="pl-PL" sz="2400" dirty="0" err="1"/>
              <a:t>lenght</a:t>
            </a:r>
            <a:r>
              <a:rPr lang="pl-PL" sz="2400" dirty="0"/>
              <a:t> of module= l * </a:t>
            </a:r>
            <a:r>
              <a:rPr lang="pl-PL" sz="2400" dirty="0" err="1"/>
              <a:t>n</a:t>
            </a:r>
            <a:r>
              <a:rPr lang="pl-PL" sz="2400" baseline="-25000" dirty="0" err="1"/>
              <a:t>rzj</a:t>
            </a:r>
            <a:r>
              <a:rPr lang="pl-PL" sz="2400" baseline="-25000" dirty="0"/>
              <a:t>  </a:t>
            </a:r>
            <a:r>
              <a:rPr lang="pl-PL" sz="2400" dirty="0"/>
              <a:t>; gdzie l- </a:t>
            </a:r>
            <a:r>
              <a:rPr lang="pl-PL" sz="2400" dirty="0" err="1"/>
              <a:t>lenght</a:t>
            </a:r>
            <a:r>
              <a:rPr lang="pl-PL" sz="2400" dirty="0"/>
              <a:t> of </a:t>
            </a:r>
            <a:r>
              <a:rPr lang="pl-PL" sz="2400" dirty="0" err="1"/>
              <a:t>pallet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r>
              <a:rPr lang="pl-PL" sz="2400" dirty="0"/>
              <a:t>; </a:t>
            </a:r>
            <a:r>
              <a:rPr lang="pl-PL" sz="2400" dirty="0" err="1"/>
              <a:t>n</a:t>
            </a:r>
            <a:r>
              <a:rPr lang="pl-PL" sz="2400" baseline="-25000" dirty="0" err="1"/>
              <a:t>rzj</a:t>
            </a:r>
            <a:r>
              <a:rPr lang="pl-PL" sz="2400" baseline="-25000" dirty="0"/>
              <a:t> </a:t>
            </a:r>
            <a:r>
              <a:rPr lang="pl-PL" sz="2400" dirty="0"/>
              <a:t>- </a:t>
            </a:r>
            <a:r>
              <a:rPr lang="en-US" sz="2400" dirty="0"/>
              <a:t>number of rows in the block</a:t>
            </a:r>
            <a:r>
              <a:rPr lang="pl-PL" sz="2400" dirty="0"/>
              <a:t> (</a:t>
            </a:r>
            <a:r>
              <a:rPr lang="pl-PL" sz="2400" dirty="0" err="1"/>
              <a:t>perpendicularly</a:t>
            </a:r>
            <a:r>
              <a:rPr lang="pl-PL" sz="2400" dirty="0"/>
              <a:t>)</a:t>
            </a:r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Surface of </a:t>
            </a:r>
            <a:r>
              <a:rPr lang="pl-PL" sz="2400" dirty="0" err="1"/>
              <a:t>storage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r>
              <a:rPr lang="pl-PL" sz="2400" dirty="0" err="1"/>
              <a:t>Ps</a:t>
            </a:r>
            <a:r>
              <a:rPr lang="pl-PL" sz="2400" dirty="0"/>
              <a:t>= n*M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N- </a:t>
            </a:r>
            <a:r>
              <a:rPr lang="pl-PL" sz="2400" dirty="0" err="1"/>
              <a:t>number</a:t>
            </a:r>
            <a:r>
              <a:rPr lang="pl-PL" sz="2400" dirty="0"/>
              <a:t> of </a:t>
            </a:r>
            <a:r>
              <a:rPr lang="pl-PL" sz="2400" dirty="0" err="1"/>
              <a:t>modules</a:t>
            </a:r>
            <a:endParaRPr lang="pl-PL" sz="2400" dirty="0"/>
          </a:p>
          <a:p>
            <a:pPr>
              <a:defRPr/>
            </a:pPr>
            <a:endParaRPr lang="pl-PL" sz="2400" dirty="0"/>
          </a:p>
          <a:p>
            <a:pPr>
              <a:defRPr/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94625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7499350" cy="928688"/>
          </a:xfrm>
        </p:spPr>
        <p:txBody>
          <a:bodyPr/>
          <a:lstStyle/>
          <a:p>
            <a:pPr>
              <a:defRPr/>
            </a:pPr>
            <a:r>
              <a:rPr lang="pl-PL" dirty="0" err="1"/>
              <a:t>Storing</a:t>
            </a:r>
            <a:r>
              <a:rPr lang="pl-PL" dirty="0"/>
              <a:t> in </a:t>
            </a:r>
            <a:r>
              <a:rPr lang="pl-PL" dirty="0" err="1"/>
              <a:t>blocks</a:t>
            </a: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435100" y="1143000"/>
            <a:ext cx="7499350" cy="538162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pl-PL" sz="2400" dirty="0"/>
              <a:t>Surface of module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M= (2f+c)* L</a:t>
            </a:r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c - 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transportation</a:t>
            </a:r>
            <a:r>
              <a:rPr lang="pl-PL" sz="2400" dirty="0"/>
              <a:t> </a:t>
            </a:r>
            <a:r>
              <a:rPr lang="pl-PL" sz="2400" dirty="0" err="1"/>
              <a:t>aisle</a:t>
            </a:r>
            <a:r>
              <a:rPr lang="pl-PL" sz="2400" dirty="0"/>
              <a:t> </a:t>
            </a:r>
          </a:p>
          <a:p>
            <a:pPr>
              <a:defRPr/>
            </a:pPr>
            <a:r>
              <a:rPr lang="pl-PL" sz="2400" dirty="0"/>
              <a:t>f – </a:t>
            </a:r>
            <a:r>
              <a:rPr lang="pl-PL" sz="2400" dirty="0" err="1"/>
              <a:t>n</a:t>
            </a:r>
            <a:r>
              <a:rPr lang="pl-PL" sz="2400" baseline="-25000" dirty="0" err="1"/>
              <a:t>rz</a:t>
            </a:r>
            <a:r>
              <a:rPr lang="pl-PL" sz="2400" dirty="0"/>
              <a:t> x d</a:t>
            </a:r>
            <a:r>
              <a:rPr lang="pl-PL" sz="2400" baseline="-25000" dirty="0"/>
              <a:t> </a:t>
            </a:r>
            <a:r>
              <a:rPr lang="pl-PL" sz="2400" dirty="0"/>
              <a:t>(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pallet</a:t>
            </a:r>
            <a:r>
              <a:rPr lang="pl-PL" sz="2400" dirty="0"/>
              <a:t> </a:t>
            </a:r>
            <a:r>
              <a:rPr lang="pl-PL" sz="2400" dirty="0" err="1"/>
              <a:t>space</a:t>
            </a:r>
            <a:r>
              <a:rPr lang="pl-PL" sz="2400" dirty="0"/>
              <a:t> ); </a:t>
            </a:r>
            <a:r>
              <a:rPr lang="pl-PL" sz="2400" dirty="0" err="1"/>
              <a:t>n</a:t>
            </a:r>
            <a:r>
              <a:rPr lang="pl-PL" sz="2400" baseline="-25000" dirty="0" err="1"/>
              <a:t>rz</a:t>
            </a:r>
            <a:r>
              <a:rPr lang="pl-PL" sz="2400" dirty="0"/>
              <a:t> – </a:t>
            </a:r>
            <a:r>
              <a:rPr lang="pl-PL" sz="2400" dirty="0" err="1"/>
              <a:t>number</a:t>
            </a:r>
            <a:r>
              <a:rPr lang="pl-PL" sz="2400" dirty="0"/>
              <a:t> of </a:t>
            </a:r>
            <a:r>
              <a:rPr lang="pl-PL" sz="2400" dirty="0" err="1"/>
              <a:t>blocks</a:t>
            </a:r>
            <a:r>
              <a:rPr lang="pl-PL" sz="2400" dirty="0"/>
              <a:t> in </a:t>
            </a:r>
            <a:r>
              <a:rPr lang="pl-PL" sz="2400" dirty="0" err="1"/>
              <a:t>row</a:t>
            </a:r>
            <a:endParaRPr lang="pl-PL" sz="2400" dirty="0"/>
          </a:p>
          <a:p>
            <a:pPr>
              <a:defRPr/>
            </a:pPr>
            <a:r>
              <a:rPr lang="pl-PL" sz="2400" dirty="0"/>
              <a:t>L – </a:t>
            </a:r>
            <a:r>
              <a:rPr lang="pl-PL" sz="2400" dirty="0" err="1"/>
              <a:t>lenght</a:t>
            </a:r>
            <a:r>
              <a:rPr lang="pl-PL" sz="2400" dirty="0"/>
              <a:t> of </a:t>
            </a:r>
            <a:r>
              <a:rPr lang="pl-PL" sz="2400" dirty="0" err="1"/>
              <a:t>block</a:t>
            </a:r>
            <a:r>
              <a:rPr lang="pl-PL" sz="2400" dirty="0"/>
              <a:t>= l * </a:t>
            </a:r>
            <a:r>
              <a:rPr lang="pl-PL" sz="2400" dirty="0" err="1"/>
              <a:t>n</a:t>
            </a:r>
            <a:r>
              <a:rPr lang="pl-PL" sz="2400" baseline="-25000" dirty="0" err="1"/>
              <a:t>rzj</a:t>
            </a:r>
            <a:r>
              <a:rPr lang="pl-PL" sz="2400" baseline="-25000" dirty="0"/>
              <a:t>  </a:t>
            </a:r>
            <a:r>
              <a:rPr lang="pl-PL" sz="2400" dirty="0"/>
              <a:t>; gdzie l- </a:t>
            </a:r>
            <a:r>
              <a:rPr lang="pl-PL" sz="2400" dirty="0" err="1"/>
              <a:t>lenght</a:t>
            </a:r>
            <a:r>
              <a:rPr lang="pl-PL" sz="2400" dirty="0"/>
              <a:t> of </a:t>
            </a:r>
            <a:r>
              <a:rPr lang="pl-PL" sz="2400" dirty="0" err="1"/>
              <a:t>pallet</a:t>
            </a:r>
            <a:r>
              <a:rPr lang="pl-PL" sz="2400" dirty="0"/>
              <a:t>; </a:t>
            </a:r>
            <a:r>
              <a:rPr lang="pl-PL" sz="2400" dirty="0" err="1"/>
              <a:t>n</a:t>
            </a:r>
            <a:r>
              <a:rPr lang="pl-PL" sz="2400" baseline="-25000" dirty="0" err="1"/>
              <a:t>rzj</a:t>
            </a:r>
            <a:r>
              <a:rPr lang="pl-PL" sz="2400" baseline="-25000" dirty="0"/>
              <a:t> </a:t>
            </a:r>
            <a:r>
              <a:rPr lang="pl-PL" sz="2400" dirty="0"/>
              <a:t>– </a:t>
            </a:r>
            <a:r>
              <a:rPr lang="pl-PL" sz="2400" dirty="0" err="1"/>
              <a:t>Number</a:t>
            </a:r>
            <a:r>
              <a:rPr lang="pl-PL" sz="2400" dirty="0"/>
              <a:t> of </a:t>
            </a:r>
            <a:r>
              <a:rPr lang="pl-PL" sz="2400" dirty="0" err="1"/>
              <a:t>pallets</a:t>
            </a:r>
            <a:r>
              <a:rPr lang="pl-PL" sz="2400" dirty="0"/>
              <a:t> in </a:t>
            </a:r>
            <a:r>
              <a:rPr lang="pl-PL" sz="2400" dirty="0" err="1"/>
              <a:t>block</a:t>
            </a:r>
            <a:r>
              <a:rPr lang="pl-PL" sz="2400" dirty="0"/>
              <a:t>  </a:t>
            </a:r>
          </a:p>
          <a:p>
            <a:pPr>
              <a:defRPr/>
            </a:pPr>
            <a:endParaRPr lang="pl-PL" sz="2400" dirty="0"/>
          </a:p>
          <a:p>
            <a:pPr>
              <a:defRPr/>
            </a:pPr>
            <a:r>
              <a:rPr lang="pl-PL" sz="2400" dirty="0"/>
              <a:t>Storage </a:t>
            </a:r>
            <a:r>
              <a:rPr lang="pl-PL" sz="2400" dirty="0" err="1"/>
              <a:t>space</a:t>
            </a:r>
            <a:r>
              <a:rPr lang="pl-PL" sz="2400" dirty="0"/>
              <a:t> (</a:t>
            </a:r>
            <a:r>
              <a:rPr lang="pl-PL" sz="2400" dirty="0" err="1"/>
              <a:t>Ps</a:t>
            </a:r>
            <a:r>
              <a:rPr lang="pl-PL" sz="2400" dirty="0"/>
              <a:t>)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 err="1"/>
              <a:t>Ps</a:t>
            </a:r>
            <a:r>
              <a:rPr lang="pl-PL" sz="2400" dirty="0"/>
              <a:t>= (n x M)+ (</a:t>
            </a:r>
            <a:r>
              <a:rPr lang="pl-PL" sz="2400" dirty="0" err="1"/>
              <a:t>n</a:t>
            </a:r>
            <a:r>
              <a:rPr lang="pl-PL" sz="2400" baseline="-25000" dirty="0" err="1"/>
              <a:t>c</a:t>
            </a:r>
            <a:r>
              <a:rPr lang="pl-PL" sz="2400" dirty="0"/>
              <a:t> x c</a:t>
            </a:r>
            <a:r>
              <a:rPr lang="pl-PL" sz="2400" baseline="-25000" dirty="0"/>
              <a:t>)</a:t>
            </a:r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n- </a:t>
            </a:r>
            <a:r>
              <a:rPr lang="pl-PL" sz="2400" dirty="0" err="1"/>
              <a:t>number</a:t>
            </a:r>
            <a:r>
              <a:rPr lang="pl-PL" sz="2400" dirty="0"/>
              <a:t> of </a:t>
            </a:r>
            <a:r>
              <a:rPr lang="pl-PL" sz="2400" dirty="0" err="1"/>
              <a:t>modules</a:t>
            </a: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r>
              <a:rPr lang="pl-PL" sz="2400" dirty="0"/>
              <a:t>c – </a:t>
            </a:r>
            <a:r>
              <a:rPr lang="pl-PL" sz="2400" dirty="0" err="1"/>
              <a:t>width</a:t>
            </a:r>
            <a:r>
              <a:rPr lang="pl-PL" sz="2400" dirty="0"/>
              <a:t> of </a:t>
            </a:r>
            <a:r>
              <a:rPr lang="pl-PL" sz="2400" dirty="0" err="1"/>
              <a:t>transportation</a:t>
            </a:r>
            <a:r>
              <a:rPr lang="pl-PL" sz="2400" dirty="0"/>
              <a:t> </a:t>
            </a:r>
            <a:r>
              <a:rPr lang="pl-PL" sz="2400" dirty="0" err="1"/>
              <a:t>road</a:t>
            </a: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r>
              <a:rPr lang="pl-PL" sz="2400" dirty="0" err="1"/>
              <a:t>n</a:t>
            </a:r>
            <a:r>
              <a:rPr lang="pl-PL" sz="2400" baseline="-25000" dirty="0" err="1"/>
              <a:t>c</a:t>
            </a:r>
            <a:r>
              <a:rPr lang="pl-PL" sz="2400" dirty="0"/>
              <a:t> </a:t>
            </a:r>
            <a:r>
              <a:rPr lang="pl-PL" sz="2400" dirty="0" err="1"/>
              <a:t>number</a:t>
            </a:r>
            <a:r>
              <a:rPr lang="pl-PL" sz="2400" dirty="0"/>
              <a:t> of </a:t>
            </a:r>
            <a:r>
              <a:rPr lang="pl-PL" sz="2400" dirty="0" err="1"/>
              <a:t>aisles</a:t>
            </a: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endParaRPr lang="pl-PL" sz="2400" dirty="0"/>
          </a:p>
          <a:p>
            <a:pPr>
              <a:buFont typeface="Wingdings 2" pitchFamily="18" charset="2"/>
              <a:buNone/>
              <a:defRPr/>
            </a:pPr>
            <a:endParaRPr lang="pl-PL" sz="2400" dirty="0"/>
          </a:p>
          <a:p>
            <a:pPr>
              <a:defRPr/>
            </a:pPr>
            <a:endParaRPr lang="pl-PL" sz="2400" dirty="0"/>
          </a:p>
          <a:p>
            <a:pPr>
              <a:defRPr/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956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dirty="0" err="1"/>
              <a:t>Task</a:t>
            </a:r>
            <a:endParaRPr lang="pl-PL" dirty="0"/>
          </a:p>
        </p:txBody>
      </p:sp>
      <p:sp>
        <p:nvSpPr>
          <p:cNvPr id="31747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pl-PL" dirty="0"/>
              <a:t> calculate the module field for block storage, where the transport path width is 4.5 m, and each block holds 12 pallets (</a:t>
            </a:r>
            <a:r>
              <a:rPr lang="pl-PL" altLang="pl-PL" dirty="0"/>
              <a:t>4x3</a:t>
            </a:r>
            <a:r>
              <a:rPr lang="en-US" altLang="pl-PL" dirty="0"/>
              <a:t>). Storage is carried out on industrial pallets</a:t>
            </a:r>
            <a:r>
              <a:rPr lang="pl-PL" alt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378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dirty="0"/>
              <a:t>Solution</a:t>
            </a:r>
          </a:p>
        </p:txBody>
      </p:sp>
      <p:sp>
        <p:nvSpPr>
          <p:cNvPr id="32771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altLang="pl-PL" sz="2400" dirty="0"/>
              <a:t>Surface of the module</a:t>
            </a:r>
          </a:p>
          <a:p>
            <a:pPr>
              <a:buFont typeface="Wingdings 2" pitchFamily="18" charset="2"/>
              <a:buNone/>
            </a:pPr>
            <a:r>
              <a:rPr lang="pl-PL" altLang="pl-PL" sz="2400" dirty="0"/>
              <a:t>M= (2f+c</a:t>
            </a:r>
            <a:r>
              <a:rPr lang="pl-PL" altLang="pl-PL" sz="2400" baseline="-25000" dirty="0"/>
              <a:t>r</a:t>
            </a:r>
            <a:r>
              <a:rPr lang="pl-PL" altLang="pl-PL" sz="2400" dirty="0"/>
              <a:t>)x L = (2x( 5,2m+ 4,5)) x3,3m = 57,72m</a:t>
            </a:r>
          </a:p>
          <a:p>
            <a:endParaRPr lang="pl-PL" altLang="pl-PL" sz="2400" dirty="0"/>
          </a:p>
          <a:p>
            <a:r>
              <a:rPr lang="pl-PL" altLang="pl-PL" sz="2400" dirty="0"/>
              <a:t>C – 4,5 m,</a:t>
            </a:r>
          </a:p>
          <a:p>
            <a:r>
              <a:rPr lang="pl-PL" altLang="pl-PL" sz="2400" dirty="0"/>
              <a:t>f – </a:t>
            </a:r>
            <a:r>
              <a:rPr lang="pl-PL" altLang="pl-PL" sz="2400" dirty="0" err="1"/>
              <a:t>n</a:t>
            </a:r>
            <a:r>
              <a:rPr lang="pl-PL" altLang="pl-PL" sz="2400" baseline="-25000" dirty="0" err="1"/>
              <a:t>rz</a:t>
            </a:r>
            <a:r>
              <a:rPr lang="pl-PL" altLang="pl-PL" sz="2400" dirty="0"/>
              <a:t> </a:t>
            </a:r>
            <a:r>
              <a:rPr lang="pl-PL" altLang="pl-PL" sz="2400" dirty="0" err="1"/>
              <a:t>xd</a:t>
            </a:r>
            <a:r>
              <a:rPr lang="pl-PL" altLang="pl-PL" sz="2400" baseline="-25000" dirty="0"/>
              <a:t> </a:t>
            </a:r>
            <a:r>
              <a:rPr lang="pl-PL" altLang="pl-PL" sz="2400" dirty="0"/>
              <a:t>= (1,2m+0,1 m) x 4= 5,2m</a:t>
            </a:r>
          </a:p>
          <a:p>
            <a:r>
              <a:rPr lang="pl-PL" altLang="pl-PL" sz="2400" dirty="0"/>
              <a:t>L – </a:t>
            </a:r>
            <a:r>
              <a:rPr lang="pl-PL" altLang="pl-PL" sz="2400" dirty="0" err="1"/>
              <a:t>lenght</a:t>
            </a:r>
            <a:r>
              <a:rPr lang="pl-PL" altLang="pl-PL" sz="2400" dirty="0"/>
              <a:t> of </a:t>
            </a:r>
            <a:r>
              <a:rPr lang="pl-PL" altLang="pl-PL" sz="2400" dirty="0" err="1"/>
              <a:t>block</a:t>
            </a:r>
            <a:r>
              <a:rPr lang="pl-PL" altLang="pl-PL" sz="2400" dirty="0"/>
              <a:t>= l * </a:t>
            </a:r>
            <a:r>
              <a:rPr lang="pl-PL" altLang="pl-PL" sz="2400" dirty="0" err="1"/>
              <a:t>n</a:t>
            </a:r>
            <a:r>
              <a:rPr lang="pl-PL" altLang="pl-PL" sz="2400" baseline="-25000" dirty="0" err="1"/>
              <a:t>rzj</a:t>
            </a:r>
            <a:r>
              <a:rPr lang="pl-PL" altLang="pl-PL" sz="2400" dirty="0"/>
              <a:t> = (1m+ 0,1m)x3 = 3,3 m</a:t>
            </a:r>
          </a:p>
          <a:p>
            <a:r>
              <a:rPr lang="pl-PL" altLang="pl-PL" sz="2400" dirty="0"/>
              <a:t>Storage </a:t>
            </a:r>
            <a:r>
              <a:rPr lang="pl-PL" altLang="pl-PL" sz="2400" dirty="0" err="1"/>
              <a:t>space</a:t>
            </a:r>
            <a:r>
              <a:rPr lang="pl-PL" altLang="pl-PL" sz="2400" dirty="0"/>
              <a:t>  (</a:t>
            </a:r>
            <a:r>
              <a:rPr lang="pl-PL" altLang="pl-PL" sz="2400" dirty="0" err="1"/>
              <a:t>Ps</a:t>
            </a:r>
            <a:r>
              <a:rPr lang="pl-PL" altLang="pl-PL" sz="2400" dirty="0"/>
              <a:t>)</a:t>
            </a:r>
          </a:p>
          <a:p>
            <a:pPr>
              <a:buFont typeface="Wingdings 2" pitchFamily="18" charset="2"/>
              <a:buNone/>
            </a:pPr>
            <a:r>
              <a:rPr lang="pl-PL" altLang="pl-PL" sz="2400" dirty="0" err="1"/>
              <a:t>Ps</a:t>
            </a:r>
            <a:r>
              <a:rPr lang="pl-PL" altLang="pl-PL" sz="2400" dirty="0"/>
              <a:t>= n*M</a:t>
            </a:r>
          </a:p>
          <a:p>
            <a:pPr>
              <a:buFont typeface="Wingdings 2" pitchFamily="18" charset="2"/>
              <a:buNone/>
            </a:pPr>
            <a:r>
              <a:rPr lang="pl-PL" altLang="pl-PL" sz="2400" dirty="0"/>
              <a:t>n- </a:t>
            </a:r>
            <a:r>
              <a:rPr lang="pl-PL" altLang="pl-PL" sz="2400" dirty="0" err="1"/>
              <a:t>number</a:t>
            </a:r>
            <a:r>
              <a:rPr lang="pl-PL" altLang="pl-PL" sz="2400" dirty="0"/>
              <a:t> of </a:t>
            </a:r>
            <a:r>
              <a:rPr lang="pl-PL" altLang="pl-PL" sz="2400" dirty="0" err="1"/>
              <a:t>modules</a:t>
            </a:r>
            <a:endParaRPr lang="pl-PL" altLang="pl-PL" sz="2400" dirty="0"/>
          </a:p>
          <a:p>
            <a:endParaRPr lang="pl-PL" altLang="pl-PL" sz="2400" dirty="0"/>
          </a:p>
        </p:txBody>
      </p:sp>
    </p:spTree>
    <p:extLst>
      <p:ext uri="{BB962C8B-B14F-4D97-AF65-F5344CB8AC3E}">
        <p14:creationId xmlns:p14="http://schemas.microsoft.com/office/powerpoint/2010/main" val="1754215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elkomiejski">
  <a:themeElements>
    <a:clrScheme name="Wielkomiejski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Wielkomiejski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ielkomiejski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504</TotalTime>
  <Words>710</Words>
  <Application>Microsoft Office PowerPoint</Application>
  <PresentationFormat>Pokaz na ekranie (4:3)</PresentationFormat>
  <Paragraphs>106</Paragraphs>
  <Slides>14</Slides>
  <Notes>1</Notes>
  <HiddenSlides>0</HiddenSlides>
  <MMClips>0</MMClips>
  <ScaleCrop>false</ScaleCrop>
  <HeadingPairs>
    <vt:vector size="8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2</vt:i4>
      </vt:variant>
      <vt:variant>
        <vt:lpstr>Tytuły slajdów</vt:lpstr>
      </vt:variant>
      <vt:variant>
        <vt:i4>14</vt:i4>
      </vt:variant>
    </vt:vector>
  </HeadingPairs>
  <TitlesOfParts>
    <vt:vector size="22" baseType="lpstr">
      <vt:lpstr>Arial</vt:lpstr>
      <vt:lpstr>Calibri</vt:lpstr>
      <vt:lpstr>Georgia</vt:lpstr>
      <vt:lpstr>Trebuchet MS</vt:lpstr>
      <vt:lpstr>Wingdings 2</vt:lpstr>
      <vt:lpstr>Wielkomiejski</vt:lpstr>
      <vt:lpstr>Równanie</vt:lpstr>
      <vt:lpstr>Dokument</vt:lpstr>
      <vt:lpstr>Warehouse management</vt:lpstr>
      <vt:lpstr>Calculation of the storage modules</vt:lpstr>
      <vt:lpstr>Standard europalet </vt:lpstr>
      <vt:lpstr>Warehouse module (cubic) </vt:lpstr>
      <vt:lpstr>Calculation of the width of transportation aisle</vt:lpstr>
      <vt:lpstr>Example</vt:lpstr>
      <vt:lpstr> </vt:lpstr>
      <vt:lpstr>Example 2</vt:lpstr>
      <vt:lpstr>Solution</vt:lpstr>
      <vt:lpstr>Example </vt:lpstr>
      <vt:lpstr>Solution</vt:lpstr>
      <vt:lpstr>Storing in blocks</vt:lpstr>
      <vt:lpstr>Task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paulina</dc:creator>
  <cp:lastModifiedBy>Paulina Golinska-Dawson</cp:lastModifiedBy>
  <cp:revision>39</cp:revision>
  <dcterms:created xsi:type="dcterms:W3CDTF">2018-10-21T11:54:07Z</dcterms:created>
  <dcterms:modified xsi:type="dcterms:W3CDTF">2025-05-06T17:42:46Z</dcterms:modified>
</cp:coreProperties>
</file>